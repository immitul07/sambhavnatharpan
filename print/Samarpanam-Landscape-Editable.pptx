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691813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38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EA80-62DB-24EE-DB9C-B248F6FA2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7"/>
            <a:ext cx="8018860" cy="2631887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2FE79-C34A-93A2-AC91-EBA702ADB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2B083-D6CA-882F-6841-04BBD705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A4C6D-49A9-3C70-CF33-6BFC4B02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57CB0-CF11-3026-C9A1-D8D09C96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013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3C00-239C-5526-EB92-27C9E2E3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9DF2B-83CB-F1DE-73E5-A07F51DDA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2D48-8BE3-7C9E-93E4-C71F1FD02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18F8C-71ED-6F8A-9C09-F2E95142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269F8-4A60-329E-F6A3-C7A590CE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26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063E-0F4B-2325-F29E-9BB05CB4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2E06B-DA3B-26D7-6FD3-D30D174F3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82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8C72C-B538-88A3-0047-F763BAB86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EA9C2-BE75-5A51-C3CD-E644B37C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7533A-977C-FE30-BD11-DC2220A1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7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E957-B10A-368C-563A-E907CC56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3B9D6-F163-14C6-1D01-441FB14F4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3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2E20A-F2B7-9429-4B94-6CED1FBCA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1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99942-B9F9-2D20-7459-462D36C5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7E8CE-209B-0723-6E5E-8A14FF28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DC3B4-487B-ECB3-63CA-DF210DB2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393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1A17-E873-BDBB-220C-19326936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6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573DA-A4F0-F6B5-D5ED-3AD76AC87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1853171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30843-2074-1BA8-EC13-1062498CD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2761381"/>
            <a:ext cx="4523138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9DC54-31DF-599E-3313-C0772F7F9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C1BB12-2AD0-B726-4352-E17415208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233A86-9EA1-4443-9F29-CBCD6E20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19BB0-27E3-B241-760C-A7CB7A7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EB8AB-DE86-059E-3C41-E8CE0ED1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19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C0AC-A7B5-945D-A529-629A5961C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9B208-2BED-47C2-F689-C54A5C62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59ECF-A849-1F7D-B797-4CB3E3565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5421B-A3E3-C680-8D6C-D3BF33B0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14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60062-FC51-4170-0878-D7B0EA02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C4F47-7CE0-7D36-2A74-D5A3D0BA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D7249-155D-8C32-26EC-4DA8D573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56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DB06C-DBB4-4E15-A483-CD3388D9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2093-6FD8-9A40-84BA-B98130454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F56F6-0B82-D775-7D65-CDDAD14D8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0674D-E130-93EA-0713-BEEEB904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FE5C3-8BF6-9D1E-434B-E08D09F15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6BC54-E5B1-D69E-F930-F421EBCB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8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58C6-E4A5-8883-4AA3-3A2F0BE3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963A5A-1620-806F-E57C-F35C230F0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47656-E265-BC9E-ACA0-6C557B055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D7D62-9DA3-5C6A-53DD-6E928075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7604F-64D4-A5AF-77A1-EED8AE3C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6F81F-D65B-5685-28C4-78FA4B90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430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98D1-5A2E-21E7-294F-12F91BF39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884F3-567F-96B4-2653-80CE7D5E2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F032F-E07A-ED04-6917-EC0046789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E49A9-9B3C-E28A-7345-4968CF97D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1F28-5F34-8679-EE86-47E49A543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77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DD15F-0257-CE7F-7588-FC2E25D6C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FA433-55C4-2D19-7969-8FC3DB5DC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ABB45-B3A6-96D9-3B5E-1FD692E58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0CB76-278F-AF5F-1B45-5960E51D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A7799-AB71-CAEF-446F-AD2C75E6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83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FA2EC-69AF-EA62-65FC-F08BB3DBA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3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679F3-4B4B-D7D7-F992-47D18D968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3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6F4A2-9416-4793-2807-E7360210E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2116D4-4DD8-419C-A356-F61B818C531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6EDF4-D54F-8E49-41DE-B3B95AEC04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4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D387F-E4D8-80E1-0D38-9418D474C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9F5DE-7541-4B9D-B5D6-EEBAF0AD2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0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A47745-41E5-01A9-433D-68FF52844B7C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75D560-F33A-499F-9725-451E83B17720}"/>
              </a:ext>
            </a:extLst>
          </p:cNvPr>
          <p:cNvSpPr/>
          <p:nvPr/>
        </p:nvSpPr>
        <p:spPr>
          <a:xfrm>
            <a:off x="254000" y="254000"/>
            <a:ext cx="10185400" cy="7048500"/>
          </a:xfrm>
          <a:prstGeom prst="rect">
            <a:avLst/>
          </a:prstGeom>
          <a:noFill/>
          <a:ln w="12700" cap="flat" cmpd="sng" algn="ctr">
            <a:solidFill>
              <a:srgbClr val="7A7A7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0FBC6-68AF-BE5C-293A-F18C477AC7EF}"/>
              </a:ext>
            </a:extLst>
          </p:cNvPr>
          <p:cNvSpPr txBox="1"/>
          <p:nvPr/>
        </p:nvSpPr>
        <p:spPr>
          <a:xfrm>
            <a:off x="381000" y="304800"/>
            <a:ext cx="9906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॥ શ્રી આદિનાથાય નમઃ ॥   ॥ શ્રી સંભવનાથાય નમઃ ॥   ॥ શ્રી અજીતનાથાય નમઃ ॥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2B0D7-886E-0717-51E0-2E93FB73CFD8}"/>
              </a:ext>
            </a:extLst>
          </p:cNvPr>
          <p:cNvSpPr txBox="1"/>
          <p:nvPr/>
        </p:nvSpPr>
        <p:spPr>
          <a:xfrm>
            <a:off x="2794000" y="736600"/>
            <a:ext cx="5080000" cy="92333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b="1">
                <a:latin typeface="Nirmala UI" panose="020B0502040204020203" pitchFamily="34" charset="0"/>
              </a:rPr>
              <a:t>પૂરણ નગરે
શ્રી સંભવનાથ જિનાલયની
125મી ધ્વજારોહણ નિમિત્તે</a:t>
            </a:r>
            <a:endParaRPr lang="en-IN" b="1">
              <a:latin typeface="Nirmala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41338F-2792-AC46-8785-98C8F9B848C2}"/>
              </a:ext>
            </a:extLst>
          </p:cNvPr>
          <p:cNvSpPr/>
          <p:nvPr/>
        </p:nvSpPr>
        <p:spPr>
          <a:xfrm>
            <a:off x="4572000" y="1676400"/>
            <a:ext cx="1524000" cy="152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81003-D235-2F43-277E-F824FA44E19A}"/>
              </a:ext>
            </a:extLst>
          </p:cNvPr>
          <p:cNvSpPr txBox="1"/>
          <p:nvPr/>
        </p:nvSpPr>
        <p:spPr>
          <a:xfrm>
            <a:off x="3302000" y="3276600"/>
            <a:ext cx="4064000" cy="73866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4200" b="1">
                <a:latin typeface="Nirmala UI" panose="020B0502040204020203" pitchFamily="34" charset="0"/>
              </a:rPr>
              <a:t>સમર્પણમ્</a:t>
            </a:r>
            <a:endParaRPr lang="en-IN" sz="4200" b="1">
              <a:latin typeface="Nirmala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54334-D119-F5BC-D11B-9B4309BC5009}"/>
              </a:ext>
            </a:extLst>
          </p:cNvPr>
          <p:cNvSpPr txBox="1"/>
          <p:nvPr/>
        </p:nvSpPr>
        <p:spPr>
          <a:xfrm>
            <a:off x="3429000" y="3835400"/>
            <a:ext cx="3810000" cy="52322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sz="2800" b="1">
                <a:latin typeface="Calibri" panose="020F0502020204030204" pitchFamily="34" charset="0"/>
              </a:rPr>
              <a:t>SAMARPANAM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8A571-33BB-CB92-DE15-FA50BE0D58F5}"/>
              </a:ext>
            </a:extLst>
          </p:cNvPr>
          <p:cNvSpPr txBox="1"/>
          <p:nvPr/>
        </p:nvSpPr>
        <p:spPr>
          <a:xfrm>
            <a:off x="3175000" y="4292600"/>
            <a:ext cx="4318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2200" b="1">
                <a:latin typeface="Nirmala UI" panose="020B0502040204020203" pitchFamily="34" charset="0"/>
              </a:rPr>
              <a:t>સંભવ બાળ જ્યોતિ</a:t>
            </a:r>
            <a:endParaRPr lang="en-IN" sz="2200" b="1">
              <a:latin typeface="Nirmala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7777E-A504-00AE-602F-F1330F626F29}"/>
              </a:ext>
            </a:extLst>
          </p:cNvPr>
          <p:cNvSpPr txBox="1"/>
          <p:nvPr/>
        </p:nvSpPr>
        <p:spPr>
          <a:xfrm>
            <a:off x="2286000" y="4648200"/>
            <a:ext cx="609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600">
                <a:latin typeface="Nirmala UI" panose="020B0502040204020203" pitchFamily="34" charset="0"/>
              </a:rPr>
              <a:t>કૃતજ્ઞતા તથા ધર્મભાવના અભિવ્યક્તિનો અનુપમ અવસર</a:t>
            </a:r>
            <a:endParaRPr lang="en-IN" sz="1600">
              <a:latin typeface="Nirmala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E8F508-2C89-7AEA-BF32-0B0595E045B5}"/>
              </a:ext>
            </a:extLst>
          </p:cNvPr>
          <p:cNvSpPr txBox="1"/>
          <p:nvPr/>
        </p:nvSpPr>
        <p:spPr>
          <a:xfrm>
            <a:off x="3683000" y="5207000"/>
            <a:ext cx="3302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2000" b="1">
                <a:latin typeface="Nirmala UI" panose="020B0502040204020203" pitchFamily="34" charset="0"/>
              </a:rPr>
              <a:t>દૈનિક નિયમ પુસ્તિકા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810F8-0A39-7443-73F2-AFA2CB388817}"/>
              </a:ext>
            </a:extLst>
          </p:cNvPr>
          <p:cNvSpPr/>
          <p:nvPr/>
        </p:nvSpPr>
        <p:spPr>
          <a:xfrm>
            <a:off x="762000" y="5651500"/>
            <a:ext cx="9144000" cy="660400"/>
          </a:xfrm>
          <a:prstGeom prst="rect">
            <a:avLst/>
          </a:prstGeom>
          <a:noFill/>
          <a:ln w="12700" cap="flat" cmpd="sng" algn="ctr">
            <a:solidFill>
              <a:srgbClr val="3A3A3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E5E7A3-D5D3-82DE-DC7F-E225D3763DB0}"/>
              </a:ext>
            </a:extLst>
          </p:cNvPr>
          <p:cNvSpPr txBox="1"/>
          <p:nvPr/>
        </p:nvSpPr>
        <p:spPr>
          <a:xfrm>
            <a:off x="939800" y="5727700"/>
            <a:ext cx="42545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શરૂઆત: 14 </a:t>
            </a:r>
            <a:r>
              <a:rPr lang="en-IN" sz="1400" b="1">
                <a:latin typeface="Nirmala UI" panose="020B0502040204020203" pitchFamily="34" charset="0"/>
              </a:rPr>
              <a:t>Mar 2026 (</a:t>
            </a:r>
            <a:r>
              <a:rPr lang="gu-IN" sz="1400" b="1">
                <a:latin typeface="Nirmala UI" panose="020B0502040204020203" pitchFamily="34" charset="0"/>
              </a:rPr>
              <a:t>ફાગણ વદ 10)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3E20A-AA89-14C6-7EB2-E8D7CAF78F13}"/>
              </a:ext>
            </a:extLst>
          </p:cNvPr>
          <p:cNvSpPr txBox="1"/>
          <p:nvPr/>
        </p:nvSpPr>
        <p:spPr>
          <a:xfrm>
            <a:off x="5461000" y="5727700"/>
            <a:ext cx="42545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પૂર્ણાહુતિ: 14 </a:t>
            </a:r>
            <a:r>
              <a:rPr lang="en-IN" sz="1400" b="1">
                <a:latin typeface="Nirmala UI" panose="020B0502040204020203" pitchFamily="34" charset="0"/>
              </a:rPr>
              <a:t>Dec 2026 (</a:t>
            </a:r>
            <a:r>
              <a:rPr lang="gu-IN" sz="1400" b="1">
                <a:latin typeface="Nirmala UI" panose="020B0502040204020203" pitchFamily="34" charset="0"/>
              </a:rPr>
              <a:t>માગશર સુદ 5)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3A88B3-767B-FBAD-2B0B-75CB4CC82E39}"/>
              </a:ext>
            </a:extLst>
          </p:cNvPr>
          <p:cNvSpPr txBox="1"/>
          <p:nvPr/>
        </p:nvSpPr>
        <p:spPr>
          <a:xfrm>
            <a:off x="3683000" y="6413500"/>
            <a:ext cx="3302000" cy="55399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500" b="1">
                <a:latin typeface="Nirmala UI" panose="020B0502040204020203" pitchFamily="34" charset="0"/>
              </a:rPr>
              <a:t>આયોજક:
શ્રી પૂરણ પંચ મહાજન</a:t>
            </a:r>
            <a:endParaRPr lang="en-IN" sz="1500" b="1">
              <a:latin typeface="Nirmala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BCAA8-64BC-FBEE-04F9-5B526F94A15C}"/>
              </a:ext>
            </a:extLst>
          </p:cNvPr>
          <p:cNvSpPr txBox="1"/>
          <p:nvPr/>
        </p:nvSpPr>
        <p:spPr>
          <a:xfrm>
            <a:off x="558800" y="69596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નામ: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005FB3-9221-9CFC-5FD6-632B9801069B}"/>
              </a:ext>
            </a:extLst>
          </p:cNvPr>
          <p:cNvCxnSpPr/>
          <p:nvPr/>
        </p:nvCxnSpPr>
        <p:spPr>
          <a:xfrm>
            <a:off x="1638300" y="71882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C1AC25-E247-3105-07DE-7305D342117A}"/>
              </a:ext>
            </a:extLst>
          </p:cNvPr>
          <p:cNvSpPr txBox="1"/>
          <p:nvPr/>
        </p:nvSpPr>
        <p:spPr>
          <a:xfrm>
            <a:off x="5461000" y="69596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ઉંમર: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F22D5D-C016-796B-E183-F6E265EC919A}"/>
              </a:ext>
            </a:extLst>
          </p:cNvPr>
          <p:cNvCxnSpPr/>
          <p:nvPr/>
        </p:nvCxnSpPr>
        <p:spPr>
          <a:xfrm>
            <a:off x="6540500" y="71882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F62B13-D61A-C449-842D-532AC4682F4C}"/>
              </a:ext>
            </a:extLst>
          </p:cNvPr>
          <p:cNvSpPr txBox="1"/>
          <p:nvPr/>
        </p:nvSpPr>
        <p:spPr>
          <a:xfrm>
            <a:off x="558800" y="72644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સરનામું: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F82C42-F405-E1B4-8A48-B79BD6B65B15}"/>
              </a:ext>
            </a:extLst>
          </p:cNvPr>
          <p:cNvCxnSpPr/>
          <p:nvPr/>
        </p:nvCxnSpPr>
        <p:spPr>
          <a:xfrm>
            <a:off x="1638300" y="74930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5FF1781-0078-55B4-6C0C-FBAD8BF71AD5}"/>
              </a:ext>
            </a:extLst>
          </p:cNvPr>
          <p:cNvSpPr txBox="1"/>
          <p:nvPr/>
        </p:nvSpPr>
        <p:spPr>
          <a:xfrm>
            <a:off x="5461000" y="7264400"/>
            <a:ext cx="3556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1400">
                <a:latin typeface="Segoe UI Emoji" panose="020B0502040204020203" pitchFamily="34" charset="0"/>
              </a:rPr>
              <a:t>🟢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467BC2-67CB-98AE-4A1A-AD6E321008DC}"/>
              </a:ext>
            </a:extLst>
          </p:cNvPr>
          <p:cNvCxnSpPr/>
          <p:nvPr/>
        </p:nvCxnSpPr>
        <p:spPr>
          <a:xfrm>
            <a:off x="5842000" y="7493000"/>
            <a:ext cx="381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02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29FB26-72FD-0165-70CB-721F276949E5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59A7BC-7A6A-6D65-54D4-4AD2E771C9C4}"/>
              </a:ext>
            </a:extLst>
          </p:cNvPr>
          <p:cNvSpPr/>
          <p:nvPr/>
        </p:nvSpPr>
        <p:spPr>
          <a:xfrm>
            <a:off x="254000" y="254000"/>
            <a:ext cx="10185400" cy="7048500"/>
          </a:xfrm>
          <a:prstGeom prst="rect">
            <a:avLst/>
          </a:prstGeom>
          <a:noFill/>
          <a:ln w="12700" cap="flat" cmpd="sng" algn="ctr">
            <a:solidFill>
              <a:srgbClr val="7A7A7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5B280-869A-1171-3909-DDC53318CAF9}"/>
              </a:ext>
            </a:extLst>
          </p:cNvPr>
          <p:cNvSpPr txBox="1"/>
          <p:nvPr/>
        </p:nvSpPr>
        <p:spPr>
          <a:xfrm>
            <a:off x="381000" y="304800"/>
            <a:ext cx="9906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॥ શ્રી આદિનાથાય નમઃ ॥   ॥ શ્રી સંભવનાથાય નમઃ ॥   ॥ શ્રી અજીતનાથાય નમઃ ॥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8185D-F619-0839-F2E6-C376EFF3F591}"/>
              </a:ext>
            </a:extLst>
          </p:cNvPr>
          <p:cNvSpPr txBox="1"/>
          <p:nvPr/>
        </p:nvSpPr>
        <p:spPr>
          <a:xfrm>
            <a:off x="2794000" y="736600"/>
            <a:ext cx="5080000" cy="92333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b="1">
                <a:latin typeface="Nirmala UI" panose="020B0502040204020203" pitchFamily="34" charset="0"/>
              </a:rPr>
              <a:t>પૂરણ નગરે
શ્રી સંભવનાથ જિનાલયની
125મી ધ્વજારોહણ નિમિત્તે</a:t>
            </a:r>
            <a:endParaRPr lang="en-IN" b="1">
              <a:latin typeface="Nirmala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C29EEC-1D61-E6B7-1FC3-05D055767379}"/>
              </a:ext>
            </a:extLst>
          </p:cNvPr>
          <p:cNvSpPr/>
          <p:nvPr/>
        </p:nvSpPr>
        <p:spPr>
          <a:xfrm>
            <a:off x="4572000" y="1676400"/>
            <a:ext cx="1524000" cy="152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3AF40-1955-1C68-0133-2161C96594EF}"/>
              </a:ext>
            </a:extLst>
          </p:cNvPr>
          <p:cNvSpPr txBox="1"/>
          <p:nvPr/>
        </p:nvSpPr>
        <p:spPr>
          <a:xfrm>
            <a:off x="3302000" y="3276600"/>
            <a:ext cx="4064000" cy="73866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4200" b="1">
                <a:latin typeface="Nirmala UI" panose="020B0502040204020203" pitchFamily="34" charset="0"/>
              </a:rPr>
              <a:t>સમર્પણમ્</a:t>
            </a:r>
            <a:endParaRPr lang="en-IN" sz="4200" b="1">
              <a:latin typeface="Nirmala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8A121-22B9-BC7D-72ED-C02BB2ED5EA3}"/>
              </a:ext>
            </a:extLst>
          </p:cNvPr>
          <p:cNvSpPr txBox="1"/>
          <p:nvPr/>
        </p:nvSpPr>
        <p:spPr>
          <a:xfrm>
            <a:off x="3429000" y="3835400"/>
            <a:ext cx="3810000" cy="52322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sz="2800" b="1">
                <a:latin typeface="Calibri" panose="020F0502020204030204" pitchFamily="34" charset="0"/>
              </a:rPr>
              <a:t>SAMARPANAM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9A31-358F-E70B-8428-98FE3634F4D0}"/>
              </a:ext>
            </a:extLst>
          </p:cNvPr>
          <p:cNvSpPr txBox="1"/>
          <p:nvPr/>
        </p:nvSpPr>
        <p:spPr>
          <a:xfrm>
            <a:off x="3175000" y="4292600"/>
            <a:ext cx="4318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2200" b="1">
                <a:latin typeface="Nirmala UI" panose="020B0502040204020203" pitchFamily="34" charset="0"/>
              </a:rPr>
              <a:t>સંભવ યુવા શક્તિ</a:t>
            </a:r>
            <a:endParaRPr lang="en-IN" sz="2200" b="1">
              <a:latin typeface="Nirmala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D63F9-C9A4-8D99-7EB3-137345B2E230}"/>
              </a:ext>
            </a:extLst>
          </p:cNvPr>
          <p:cNvSpPr txBox="1"/>
          <p:nvPr/>
        </p:nvSpPr>
        <p:spPr>
          <a:xfrm>
            <a:off x="2286000" y="4648200"/>
            <a:ext cx="609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600">
                <a:latin typeface="Nirmala UI" panose="020B0502040204020203" pitchFamily="34" charset="0"/>
              </a:rPr>
              <a:t>કૃતજ્ઞતા તથા ધર્મભાવના અભિવ્યક્તિનો અનુપમ અવસર</a:t>
            </a:r>
            <a:endParaRPr lang="en-IN" sz="1600">
              <a:latin typeface="Nirmala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F8BAC-C935-454A-57EE-9CE920C9F893}"/>
              </a:ext>
            </a:extLst>
          </p:cNvPr>
          <p:cNvSpPr txBox="1"/>
          <p:nvPr/>
        </p:nvSpPr>
        <p:spPr>
          <a:xfrm>
            <a:off x="3683000" y="5207000"/>
            <a:ext cx="3302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2000" b="1">
                <a:latin typeface="Nirmala UI" panose="020B0502040204020203" pitchFamily="34" charset="0"/>
              </a:rPr>
              <a:t>દૈનિક નિયમ પુસ્તિકા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3567FB-A502-0869-3A82-FBD6FF6DCA9B}"/>
              </a:ext>
            </a:extLst>
          </p:cNvPr>
          <p:cNvSpPr/>
          <p:nvPr/>
        </p:nvSpPr>
        <p:spPr>
          <a:xfrm>
            <a:off x="762000" y="5651500"/>
            <a:ext cx="9144000" cy="660400"/>
          </a:xfrm>
          <a:prstGeom prst="rect">
            <a:avLst/>
          </a:prstGeom>
          <a:noFill/>
          <a:ln w="12700" cap="flat" cmpd="sng" algn="ctr">
            <a:solidFill>
              <a:srgbClr val="3A3A3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3D79A-1E9D-352D-16B0-10E4ACDD65B7}"/>
              </a:ext>
            </a:extLst>
          </p:cNvPr>
          <p:cNvSpPr txBox="1"/>
          <p:nvPr/>
        </p:nvSpPr>
        <p:spPr>
          <a:xfrm>
            <a:off x="939800" y="5727700"/>
            <a:ext cx="42545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શરૂઆત: 14 </a:t>
            </a:r>
            <a:r>
              <a:rPr lang="en-IN" sz="1400" b="1">
                <a:latin typeface="Nirmala UI" panose="020B0502040204020203" pitchFamily="34" charset="0"/>
              </a:rPr>
              <a:t>Mar 2026 (</a:t>
            </a:r>
            <a:r>
              <a:rPr lang="gu-IN" sz="1400" b="1">
                <a:latin typeface="Nirmala UI" panose="020B0502040204020203" pitchFamily="34" charset="0"/>
              </a:rPr>
              <a:t>ફાગણ વદ 10)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AEFBC3-6265-7531-B8F2-B6D76256B145}"/>
              </a:ext>
            </a:extLst>
          </p:cNvPr>
          <p:cNvSpPr txBox="1"/>
          <p:nvPr/>
        </p:nvSpPr>
        <p:spPr>
          <a:xfrm>
            <a:off x="5461000" y="5727700"/>
            <a:ext cx="42545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પૂર્ણાહુતિ: 14 </a:t>
            </a:r>
            <a:r>
              <a:rPr lang="en-IN" sz="1400" b="1">
                <a:latin typeface="Nirmala UI" panose="020B0502040204020203" pitchFamily="34" charset="0"/>
              </a:rPr>
              <a:t>Dec 2026 (</a:t>
            </a:r>
            <a:r>
              <a:rPr lang="gu-IN" sz="1400" b="1">
                <a:latin typeface="Nirmala UI" panose="020B0502040204020203" pitchFamily="34" charset="0"/>
              </a:rPr>
              <a:t>માગશર સુદ 5)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CC5F8B-8939-834E-A55D-17CE6810EBCC}"/>
              </a:ext>
            </a:extLst>
          </p:cNvPr>
          <p:cNvSpPr txBox="1"/>
          <p:nvPr/>
        </p:nvSpPr>
        <p:spPr>
          <a:xfrm>
            <a:off x="3683000" y="6413500"/>
            <a:ext cx="3302000" cy="55399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500" b="1">
                <a:latin typeface="Nirmala UI" panose="020B0502040204020203" pitchFamily="34" charset="0"/>
              </a:rPr>
              <a:t>આયોજક:
શ્રી પૂરણ પંચ મહાજન</a:t>
            </a:r>
            <a:endParaRPr lang="en-IN" sz="1500" b="1">
              <a:latin typeface="Nirmala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6924A-B6A3-C6EC-C3C6-EE0E51C0960F}"/>
              </a:ext>
            </a:extLst>
          </p:cNvPr>
          <p:cNvSpPr txBox="1"/>
          <p:nvPr/>
        </p:nvSpPr>
        <p:spPr>
          <a:xfrm>
            <a:off x="558800" y="69596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નામ: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72C940-0CEF-9F81-F7AD-F625938B4AF3}"/>
              </a:ext>
            </a:extLst>
          </p:cNvPr>
          <p:cNvCxnSpPr/>
          <p:nvPr/>
        </p:nvCxnSpPr>
        <p:spPr>
          <a:xfrm>
            <a:off x="1638300" y="71882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237F96-49C8-E0A8-009F-57AE51D86FC4}"/>
              </a:ext>
            </a:extLst>
          </p:cNvPr>
          <p:cNvSpPr txBox="1"/>
          <p:nvPr/>
        </p:nvSpPr>
        <p:spPr>
          <a:xfrm>
            <a:off x="5461000" y="69596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ઉંમર: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95526D-30FA-2522-B544-14FE483694BE}"/>
              </a:ext>
            </a:extLst>
          </p:cNvPr>
          <p:cNvCxnSpPr/>
          <p:nvPr/>
        </p:nvCxnSpPr>
        <p:spPr>
          <a:xfrm>
            <a:off x="6540500" y="71882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E7F37E-293C-08EF-99DA-FA27D46AA6C8}"/>
              </a:ext>
            </a:extLst>
          </p:cNvPr>
          <p:cNvSpPr txBox="1"/>
          <p:nvPr/>
        </p:nvSpPr>
        <p:spPr>
          <a:xfrm>
            <a:off x="558800" y="72644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સરનામું: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A7BF47-4DB9-5F97-48AE-83EF632623A5}"/>
              </a:ext>
            </a:extLst>
          </p:cNvPr>
          <p:cNvCxnSpPr/>
          <p:nvPr/>
        </p:nvCxnSpPr>
        <p:spPr>
          <a:xfrm>
            <a:off x="1638300" y="74930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76E9EC2-06E8-E36D-401B-4E8606C06F2D}"/>
              </a:ext>
            </a:extLst>
          </p:cNvPr>
          <p:cNvSpPr txBox="1"/>
          <p:nvPr/>
        </p:nvSpPr>
        <p:spPr>
          <a:xfrm>
            <a:off x="5461000" y="7264400"/>
            <a:ext cx="3556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1400">
                <a:latin typeface="Segoe UI Emoji" panose="020B0502040204020203" pitchFamily="34" charset="0"/>
              </a:rPr>
              <a:t>🟢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280102-1DC5-2148-52A4-A8126D9C3467}"/>
              </a:ext>
            </a:extLst>
          </p:cNvPr>
          <p:cNvCxnSpPr/>
          <p:nvPr/>
        </p:nvCxnSpPr>
        <p:spPr>
          <a:xfrm>
            <a:off x="5842000" y="7493000"/>
            <a:ext cx="381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16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50FBC3-0166-09CA-2B0C-7442C56DA2BA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30BE3-CE5F-4B90-57D8-3AB9D4FB26FE}"/>
              </a:ext>
            </a:extLst>
          </p:cNvPr>
          <p:cNvSpPr/>
          <p:nvPr/>
        </p:nvSpPr>
        <p:spPr>
          <a:xfrm>
            <a:off x="254000" y="254000"/>
            <a:ext cx="10185400" cy="7048500"/>
          </a:xfrm>
          <a:prstGeom prst="rect">
            <a:avLst/>
          </a:prstGeom>
          <a:noFill/>
          <a:ln w="12700" cap="flat" cmpd="sng" algn="ctr">
            <a:solidFill>
              <a:srgbClr val="7A7A7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100A2-1673-07BC-87F4-B2A1E0F71FC5}"/>
              </a:ext>
            </a:extLst>
          </p:cNvPr>
          <p:cNvSpPr txBox="1"/>
          <p:nvPr/>
        </p:nvSpPr>
        <p:spPr>
          <a:xfrm>
            <a:off x="381000" y="304800"/>
            <a:ext cx="9906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॥ શ્રી આદિનાથાય નમઃ ॥   ॥ શ્રી સંભવનાથાય નમઃ ॥   ॥ શ્રી અજીતનાથાય નમઃ ॥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93B68-ABF3-0EDF-2594-09A99795D475}"/>
              </a:ext>
            </a:extLst>
          </p:cNvPr>
          <p:cNvSpPr txBox="1"/>
          <p:nvPr/>
        </p:nvSpPr>
        <p:spPr>
          <a:xfrm>
            <a:off x="2794000" y="736600"/>
            <a:ext cx="5080000" cy="92333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b="1">
                <a:latin typeface="Nirmala UI" panose="020B0502040204020203" pitchFamily="34" charset="0"/>
              </a:rPr>
              <a:t>પૂરણ નગરે
શ્રી સંભવનાથ જિનાલયની
125મી ધ્વજારોહણ નિમિત્તે</a:t>
            </a:r>
            <a:endParaRPr lang="en-IN" b="1">
              <a:latin typeface="Nirmala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9B9CD6-4479-3ACB-33FC-1C092C66E2B1}"/>
              </a:ext>
            </a:extLst>
          </p:cNvPr>
          <p:cNvSpPr/>
          <p:nvPr/>
        </p:nvSpPr>
        <p:spPr>
          <a:xfrm>
            <a:off x="4572000" y="1676400"/>
            <a:ext cx="1524000" cy="152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684D7-52EA-81F1-5487-40DC135CA32A}"/>
              </a:ext>
            </a:extLst>
          </p:cNvPr>
          <p:cNvSpPr txBox="1"/>
          <p:nvPr/>
        </p:nvSpPr>
        <p:spPr>
          <a:xfrm>
            <a:off x="3302000" y="3276600"/>
            <a:ext cx="4064000" cy="73866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4200" b="1">
                <a:latin typeface="Nirmala UI" panose="020B0502040204020203" pitchFamily="34" charset="0"/>
              </a:rPr>
              <a:t>સમર્પણમ્</a:t>
            </a:r>
            <a:endParaRPr lang="en-IN" sz="4200" b="1">
              <a:latin typeface="Nirmala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ED3F20-7A2C-8E11-7470-26E00A4FB81E}"/>
              </a:ext>
            </a:extLst>
          </p:cNvPr>
          <p:cNvSpPr txBox="1"/>
          <p:nvPr/>
        </p:nvSpPr>
        <p:spPr>
          <a:xfrm>
            <a:off x="3429000" y="3835400"/>
            <a:ext cx="3810000" cy="52322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sz="2800" b="1">
                <a:latin typeface="Calibri" panose="020F0502020204030204" pitchFamily="34" charset="0"/>
              </a:rPr>
              <a:t>SAMARPANAM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F9788-D9D1-6459-D23C-F4792D7BCEDB}"/>
              </a:ext>
            </a:extLst>
          </p:cNvPr>
          <p:cNvSpPr txBox="1"/>
          <p:nvPr/>
        </p:nvSpPr>
        <p:spPr>
          <a:xfrm>
            <a:off x="3175000" y="4292600"/>
            <a:ext cx="4318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2200" b="1">
                <a:latin typeface="Nirmala UI" panose="020B0502040204020203" pitchFamily="34" charset="0"/>
              </a:rPr>
              <a:t>સંભવ ગૌરવ</a:t>
            </a:r>
            <a:endParaRPr lang="en-IN" sz="2200" b="1">
              <a:latin typeface="Nirmala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49331-8F1C-9C19-952C-6AE07F85A7E0}"/>
              </a:ext>
            </a:extLst>
          </p:cNvPr>
          <p:cNvSpPr txBox="1"/>
          <p:nvPr/>
        </p:nvSpPr>
        <p:spPr>
          <a:xfrm>
            <a:off x="2286000" y="4648200"/>
            <a:ext cx="609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600">
                <a:latin typeface="Nirmala UI" panose="020B0502040204020203" pitchFamily="34" charset="0"/>
              </a:rPr>
              <a:t>કૃતજ્ઞતા તથા ધર્મભાવના અભિવ્યક્તિનો અનુપમ અવસર</a:t>
            </a:r>
            <a:endParaRPr lang="en-IN" sz="1600">
              <a:latin typeface="Nirmala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58C8C-9AF7-E14C-0A7B-24AC0B73AE6D}"/>
              </a:ext>
            </a:extLst>
          </p:cNvPr>
          <p:cNvSpPr txBox="1"/>
          <p:nvPr/>
        </p:nvSpPr>
        <p:spPr>
          <a:xfrm>
            <a:off x="3683000" y="5207000"/>
            <a:ext cx="3302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2000" b="1">
                <a:latin typeface="Nirmala UI" panose="020B0502040204020203" pitchFamily="34" charset="0"/>
              </a:rPr>
              <a:t>દૈનિક નિયમ પુસ્તિકા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A2797-359D-CDD6-3DCA-3CDC0563DD72}"/>
              </a:ext>
            </a:extLst>
          </p:cNvPr>
          <p:cNvSpPr/>
          <p:nvPr/>
        </p:nvSpPr>
        <p:spPr>
          <a:xfrm>
            <a:off x="762000" y="5651500"/>
            <a:ext cx="9144000" cy="660400"/>
          </a:xfrm>
          <a:prstGeom prst="rect">
            <a:avLst/>
          </a:prstGeom>
          <a:noFill/>
          <a:ln w="12700" cap="flat" cmpd="sng" algn="ctr">
            <a:solidFill>
              <a:srgbClr val="3A3A3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9C91F9-4646-ADDA-EA2B-65223CE1C714}"/>
              </a:ext>
            </a:extLst>
          </p:cNvPr>
          <p:cNvSpPr txBox="1"/>
          <p:nvPr/>
        </p:nvSpPr>
        <p:spPr>
          <a:xfrm>
            <a:off x="939800" y="5727700"/>
            <a:ext cx="42545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શરૂઆત: 14 </a:t>
            </a:r>
            <a:r>
              <a:rPr lang="en-IN" sz="1400" b="1">
                <a:latin typeface="Nirmala UI" panose="020B0502040204020203" pitchFamily="34" charset="0"/>
              </a:rPr>
              <a:t>Mar 2026 (</a:t>
            </a:r>
            <a:r>
              <a:rPr lang="gu-IN" sz="1400" b="1">
                <a:latin typeface="Nirmala UI" panose="020B0502040204020203" pitchFamily="34" charset="0"/>
              </a:rPr>
              <a:t>ફાગણ વદ 10)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EF900-15BF-2DCA-C82B-97D1DBCC5023}"/>
              </a:ext>
            </a:extLst>
          </p:cNvPr>
          <p:cNvSpPr txBox="1"/>
          <p:nvPr/>
        </p:nvSpPr>
        <p:spPr>
          <a:xfrm>
            <a:off x="5461000" y="5727700"/>
            <a:ext cx="42545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પૂર્ણાહુતિ: 14 </a:t>
            </a:r>
            <a:r>
              <a:rPr lang="en-IN" sz="1400" b="1">
                <a:latin typeface="Nirmala UI" panose="020B0502040204020203" pitchFamily="34" charset="0"/>
              </a:rPr>
              <a:t>Dec 2026 (</a:t>
            </a:r>
            <a:r>
              <a:rPr lang="gu-IN" sz="1400" b="1">
                <a:latin typeface="Nirmala UI" panose="020B0502040204020203" pitchFamily="34" charset="0"/>
              </a:rPr>
              <a:t>માગશર સુદ 5)</a:t>
            </a:r>
            <a:endParaRPr lang="en-IN" sz="1400" b="1">
              <a:latin typeface="Nirmala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534191-8882-2D17-A0C3-50A259C408F8}"/>
              </a:ext>
            </a:extLst>
          </p:cNvPr>
          <p:cNvSpPr txBox="1"/>
          <p:nvPr/>
        </p:nvSpPr>
        <p:spPr>
          <a:xfrm>
            <a:off x="3683000" y="6413500"/>
            <a:ext cx="3302000" cy="55399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500" b="1">
                <a:latin typeface="Nirmala UI" panose="020B0502040204020203" pitchFamily="34" charset="0"/>
              </a:rPr>
              <a:t>આયોજક:
શ્રી પૂરણ પંચ મહાજન</a:t>
            </a:r>
            <a:endParaRPr lang="en-IN" sz="1500" b="1">
              <a:latin typeface="Nirmala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20CAB1-CA91-B18D-42FC-50D0FF5D13D3}"/>
              </a:ext>
            </a:extLst>
          </p:cNvPr>
          <p:cNvSpPr txBox="1"/>
          <p:nvPr/>
        </p:nvSpPr>
        <p:spPr>
          <a:xfrm>
            <a:off x="558800" y="69596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નામ: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0BA1EE-89D0-7F55-D4A7-217AB44CA4A8}"/>
              </a:ext>
            </a:extLst>
          </p:cNvPr>
          <p:cNvCxnSpPr/>
          <p:nvPr/>
        </p:nvCxnSpPr>
        <p:spPr>
          <a:xfrm>
            <a:off x="1638300" y="71882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263BF00-08F1-5245-573F-7929EE64F1A3}"/>
              </a:ext>
            </a:extLst>
          </p:cNvPr>
          <p:cNvSpPr txBox="1"/>
          <p:nvPr/>
        </p:nvSpPr>
        <p:spPr>
          <a:xfrm>
            <a:off x="5461000" y="69596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ઉંમર: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26AA49-D481-0C6C-0851-7B560E48E626}"/>
              </a:ext>
            </a:extLst>
          </p:cNvPr>
          <p:cNvCxnSpPr/>
          <p:nvPr/>
        </p:nvCxnSpPr>
        <p:spPr>
          <a:xfrm>
            <a:off x="6540500" y="71882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B5DFC1-737A-CFDD-1C1F-5BF15094CF23}"/>
              </a:ext>
            </a:extLst>
          </p:cNvPr>
          <p:cNvSpPr txBox="1"/>
          <p:nvPr/>
        </p:nvSpPr>
        <p:spPr>
          <a:xfrm>
            <a:off x="558800" y="7264400"/>
            <a:ext cx="1016000" cy="338554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600" b="1">
                <a:latin typeface="Nirmala UI" panose="020B0502040204020203" pitchFamily="34" charset="0"/>
              </a:rPr>
              <a:t>સરનામું:</a:t>
            </a:r>
            <a:endParaRPr lang="en-IN" sz="1600" b="1">
              <a:latin typeface="Nirmala UI" panose="020B0502040204020203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70FB39-3BA9-E66D-1AA7-B453A20F5F02}"/>
              </a:ext>
            </a:extLst>
          </p:cNvPr>
          <p:cNvCxnSpPr/>
          <p:nvPr/>
        </p:nvCxnSpPr>
        <p:spPr>
          <a:xfrm>
            <a:off x="1638300" y="7493000"/>
            <a:ext cx="4191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EBFC3E4-FAD0-2F0F-C271-A3DC79D9D3A1}"/>
              </a:ext>
            </a:extLst>
          </p:cNvPr>
          <p:cNvSpPr txBox="1"/>
          <p:nvPr/>
        </p:nvSpPr>
        <p:spPr>
          <a:xfrm>
            <a:off x="5461000" y="7264400"/>
            <a:ext cx="3556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1400">
                <a:latin typeface="Segoe UI Emoji" panose="020B0502040204020203" pitchFamily="34" charset="0"/>
              </a:rPr>
              <a:t>🟢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8D954B-278D-83F1-B52F-73108976E004}"/>
              </a:ext>
            </a:extLst>
          </p:cNvPr>
          <p:cNvCxnSpPr/>
          <p:nvPr/>
        </p:nvCxnSpPr>
        <p:spPr>
          <a:xfrm>
            <a:off x="5842000" y="7493000"/>
            <a:ext cx="381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23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FDD533-5D21-7629-043C-A86B120FFFE5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3918F-9415-C8A6-77D3-6AA4C5B0C918}"/>
              </a:ext>
            </a:extLst>
          </p:cNvPr>
          <p:cNvSpPr txBox="1"/>
          <p:nvPr/>
        </p:nvSpPr>
        <p:spPr>
          <a:xfrm>
            <a:off x="3175000" y="304800"/>
            <a:ext cx="4318000" cy="615553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3400" b="1">
                <a:latin typeface="Nirmala UI" panose="020B0502040204020203" pitchFamily="34" charset="0"/>
              </a:rPr>
              <a:t>સમર્પણમ્</a:t>
            </a:r>
            <a:endParaRPr lang="en-IN" sz="3400" b="1">
              <a:latin typeface="Nirmala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BEFC5-3237-8AD8-097F-1517162068F4}"/>
              </a:ext>
            </a:extLst>
          </p:cNvPr>
          <p:cNvSpPr txBox="1"/>
          <p:nvPr/>
        </p:nvSpPr>
        <p:spPr>
          <a:xfrm>
            <a:off x="3238500" y="762000"/>
            <a:ext cx="4191000" cy="369332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b="1">
                <a:latin typeface="Nirmala UI" panose="020B0502040204020203" pitchFamily="34" charset="0"/>
              </a:rPr>
              <a:t>સંભવ બાળ જ્યોતિ</a:t>
            </a:r>
            <a:endParaRPr lang="en-IN" b="1">
              <a:latin typeface="Nirmala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A6299-8A9D-57E1-EFEF-0E3BE5E7A868}"/>
              </a:ext>
            </a:extLst>
          </p:cNvPr>
          <p:cNvSpPr txBox="1"/>
          <p:nvPr/>
        </p:nvSpPr>
        <p:spPr>
          <a:xfrm>
            <a:off x="1524000" y="1143000"/>
            <a:ext cx="7747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>
                <a:latin typeface="Nirmala UI" panose="020B0502040204020203" pitchFamily="34" charset="0"/>
              </a:rPr>
              <a:t>જીવનની દિશા બતાવનારી, જીવનને સત્માર્ગે ઉન્નતિ તરફ દોરનારી, શ્રી સંભવનાથ દાદાની ધર્મભાવના</a:t>
            </a:r>
            <a:endParaRPr lang="en-IN" sz="1400">
              <a:latin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218E6E-8ACD-3EB3-D77D-FDAD12E41418}"/>
              </a:ext>
            </a:extLst>
          </p:cNvPr>
          <p:cNvSpPr/>
          <p:nvPr/>
        </p:nvSpPr>
        <p:spPr>
          <a:xfrm>
            <a:off x="635000" y="1676400"/>
            <a:ext cx="9398000" cy="508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9EB76-B083-4294-2627-843D57C76602}"/>
              </a:ext>
            </a:extLst>
          </p:cNvPr>
          <p:cNvSpPr txBox="1"/>
          <p:nvPr/>
        </p:nvSpPr>
        <p:spPr>
          <a:xfrm>
            <a:off x="889000" y="1841500"/>
            <a:ext cx="2540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2000" b="1">
                <a:latin typeface="Nirmala UI" panose="020B0502040204020203" pitchFamily="34" charset="0"/>
              </a:rPr>
              <a:t>ઉદ્દેશ્ય: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04F5E1-9480-55AA-DC5C-CBF9F71B1E69}"/>
              </a:ext>
            </a:extLst>
          </p:cNvPr>
          <p:cNvSpPr txBox="1"/>
          <p:nvPr/>
        </p:nvSpPr>
        <p:spPr>
          <a:xfrm>
            <a:off x="914400" y="2235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૧. દાદા પ્રત્યે કૃતજ્ઞતાની અભિવ્યક્તિ.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632D9-6BA3-26F1-E2D4-7D0A3F6D8B37}"/>
              </a:ext>
            </a:extLst>
          </p:cNvPr>
          <p:cNvSpPr txBox="1"/>
          <p:nvPr/>
        </p:nvSpPr>
        <p:spPr>
          <a:xfrm>
            <a:off x="914400" y="2540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૨. નૈતિક મૂલ્યોનું જીવનમાં આચરણ.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530B0-3E88-4FA5-A430-81D5CD693C85}"/>
              </a:ext>
            </a:extLst>
          </p:cNvPr>
          <p:cNvSpPr txBox="1"/>
          <p:nvPr/>
        </p:nvSpPr>
        <p:spPr>
          <a:xfrm>
            <a:off x="914400" y="2844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૩. આત્માની શુદ્ધિ અને આચારનું પાલન.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6F925C-CFA4-4F0B-7FCF-D3F60EB0142D}"/>
              </a:ext>
            </a:extLst>
          </p:cNvPr>
          <p:cNvSpPr txBox="1"/>
          <p:nvPr/>
        </p:nvSpPr>
        <p:spPr>
          <a:xfrm>
            <a:off x="914400" y="3149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૪. પારિવારિક પ્રેમ અને સંસ્કારનું સિંચન.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C08D2F-0073-8FF3-3AEB-081D13E571B3}"/>
              </a:ext>
            </a:extLst>
          </p:cNvPr>
          <p:cNvSpPr txBox="1"/>
          <p:nvPr/>
        </p:nvSpPr>
        <p:spPr>
          <a:xfrm>
            <a:off x="914400" y="3454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૫. સમાજમાં સકારાત્મક પરિવર્તન.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DA805-54E4-7AEE-3B52-43E954CC3CD6}"/>
              </a:ext>
            </a:extLst>
          </p:cNvPr>
          <p:cNvSpPr txBox="1"/>
          <p:nvPr/>
        </p:nvSpPr>
        <p:spPr>
          <a:xfrm>
            <a:off x="914400" y="3759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૬. ધાર્મિકમય વાતાવરણનું સર્જન.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72160-623A-0A99-855E-37B76F08CB55}"/>
              </a:ext>
            </a:extLst>
          </p:cNvPr>
          <p:cNvSpPr txBox="1"/>
          <p:nvPr/>
        </p:nvSpPr>
        <p:spPr>
          <a:xfrm>
            <a:off x="889000" y="4191000"/>
            <a:ext cx="2540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2000" b="1">
                <a:latin typeface="Nirmala UI" panose="020B0502040204020203" pitchFamily="34" charset="0"/>
              </a:rPr>
              <a:t>નિયમો: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9024F8-9FBE-13BC-9090-78818494DB63}"/>
              </a:ext>
            </a:extLst>
          </p:cNvPr>
          <p:cNvSpPr txBox="1"/>
          <p:nvPr/>
        </p:nvSpPr>
        <p:spPr>
          <a:xfrm>
            <a:off x="914400" y="4572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૧. દૈનિક આરાધનાની નોંધ આ પુસ્તિકામાં કરવી.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18C80-0863-0225-5638-CC91C43BCE39}"/>
              </a:ext>
            </a:extLst>
          </p:cNvPr>
          <p:cNvSpPr txBox="1"/>
          <p:nvPr/>
        </p:nvSpPr>
        <p:spPr>
          <a:xfrm>
            <a:off x="914400" y="4876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૨. ૩ જૂથ માટે અલગ પુસ્તિકા વાપરવી.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7DF484-59BC-E9D0-5D5B-6FD76D8C0D01}"/>
              </a:ext>
            </a:extLst>
          </p:cNvPr>
          <p:cNvSpPr txBox="1"/>
          <p:nvPr/>
        </p:nvSpPr>
        <p:spPr>
          <a:xfrm>
            <a:off x="914400" y="5181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૩. જૂથ-૧: જન્મ વર્ષ 2011 અથવા પછી.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83944B-E266-3A61-D101-C9CF0171E3DD}"/>
              </a:ext>
            </a:extLst>
          </p:cNvPr>
          <p:cNvSpPr txBox="1"/>
          <p:nvPr/>
        </p:nvSpPr>
        <p:spPr>
          <a:xfrm>
            <a:off x="914400" y="5486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૪. જૂથ-૨: જન્મ વર્ષ 1981 થી 2010.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F12479-9817-4B80-14A7-DBBB5293B9EF}"/>
              </a:ext>
            </a:extLst>
          </p:cNvPr>
          <p:cNvSpPr txBox="1"/>
          <p:nvPr/>
        </p:nvSpPr>
        <p:spPr>
          <a:xfrm>
            <a:off x="914400" y="5791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૫. જૂથ-૩: જન્મ વર્ષ 1980 અથવા પહેલાં.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78C3FC-9161-2DD3-A830-728B31EBE2FC}"/>
              </a:ext>
            </a:extLst>
          </p:cNvPr>
          <p:cNvSpPr txBox="1"/>
          <p:nvPr/>
        </p:nvSpPr>
        <p:spPr>
          <a:xfrm>
            <a:off x="914400" y="6096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૬. દરરોજ કરેલા નિયમ સામે (✓) ચિહ્ન કરવું.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2CD566-5217-8A23-811E-C0AD8870A096}"/>
              </a:ext>
            </a:extLst>
          </p:cNvPr>
          <p:cNvSpPr txBox="1"/>
          <p:nvPr/>
        </p:nvSpPr>
        <p:spPr>
          <a:xfrm>
            <a:off x="914400" y="6400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૭. દર મહિને અંતે કુલ પોઇન્ટ્સ નોંધવા.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5D0C86-D590-36F5-1245-08765B3E6636}"/>
              </a:ext>
            </a:extLst>
          </p:cNvPr>
          <p:cNvSpPr txBox="1"/>
          <p:nvPr/>
        </p:nvSpPr>
        <p:spPr>
          <a:xfrm>
            <a:off x="3175000" y="6883400"/>
            <a:ext cx="4318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આયોજક: શ્રી પૂરણ પંચ મહાજન</a:t>
            </a:r>
            <a:endParaRPr lang="en-IN" sz="1400" b="1">
              <a:latin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18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9A86AD-31DE-A116-EDE5-BAD42518FA7E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078C3-7212-C5B5-0B3C-363A80768983}"/>
              </a:ext>
            </a:extLst>
          </p:cNvPr>
          <p:cNvSpPr txBox="1"/>
          <p:nvPr/>
        </p:nvSpPr>
        <p:spPr>
          <a:xfrm>
            <a:off x="3175000" y="304800"/>
            <a:ext cx="4318000" cy="615553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3400" b="1">
                <a:latin typeface="Nirmala UI" panose="020B0502040204020203" pitchFamily="34" charset="0"/>
              </a:rPr>
              <a:t>સમર્પણમ્</a:t>
            </a:r>
            <a:endParaRPr lang="en-IN" sz="3400" b="1">
              <a:latin typeface="Nirmala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2C00A-BD5C-9FB9-AF0D-15C5B784BF0D}"/>
              </a:ext>
            </a:extLst>
          </p:cNvPr>
          <p:cNvSpPr txBox="1"/>
          <p:nvPr/>
        </p:nvSpPr>
        <p:spPr>
          <a:xfrm>
            <a:off x="3238500" y="762000"/>
            <a:ext cx="4191000" cy="369332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b="1">
                <a:latin typeface="Nirmala UI" panose="020B0502040204020203" pitchFamily="34" charset="0"/>
              </a:rPr>
              <a:t>સંભવ યુવા શક્તિ</a:t>
            </a:r>
            <a:endParaRPr lang="en-IN" b="1">
              <a:latin typeface="Nirmala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F3D3D-4D77-6824-C2B8-2EFBDC3A3B82}"/>
              </a:ext>
            </a:extLst>
          </p:cNvPr>
          <p:cNvSpPr txBox="1"/>
          <p:nvPr/>
        </p:nvSpPr>
        <p:spPr>
          <a:xfrm>
            <a:off x="1524000" y="1143000"/>
            <a:ext cx="7747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>
                <a:latin typeface="Nirmala UI" panose="020B0502040204020203" pitchFamily="34" charset="0"/>
              </a:rPr>
              <a:t>જીવનની દિશા બતાવનારી, જીવનને સત્માર્ગે ઉન્નતિ તરફ દોરનારી, શ્રી સંભવનાથ દાદાની ધર્મભાવના</a:t>
            </a:r>
            <a:endParaRPr lang="en-IN" sz="1400">
              <a:latin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721AC8-CF00-0849-01CC-B7F61F4F4D6E}"/>
              </a:ext>
            </a:extLst>
          </p:cNvPr>
          <p:cNvSpPr/>
          <p:nvPr/>
        </p:nvSpPr>
        <p:spPr>
          <a:xfrm>
            <a:off x="635000" y="1676400"/>
            <a:ext cx="9398000" cy="508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C1C8A-D500-2350-A20B-781296F2C2CC}"/>
              </a:ext>
            </a:extLst>
          </p:cNvPr>
          <p:cNvSpPr txBox="1"/>
          <p:nvPr/>
        </p:nvSpPr>
        <p:spPr>
          <a:xfrm>
            <a:off x="889000" y="1841500"/>
            <a:ext cx="2540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2000" b="1">
                <a:latin typeface="Nirmala UI" panose="020B0502040204020203" pitchFamily="34" charset="0"/>
              </a:rPr>
              <a:t>ઉદ્દેશ્ય: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00EA5-BE64-4B86-627F-8CAE96FB7173}"/>
              </a:ext>
            </a:extLst>
          </p:cNvPr>
          <p:cNvSpPr txBox="1"/>
          <p:nvPr/>
        </p:nvSpPr>
        <p:spPr>
          <a:xfrm>
            <a:off x="914400" y="2235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૧. દાદા પ્રત્યે કૃતજ્ઞતાની અભિવ્યક્તિ.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9A3FA-00DD-CE01-205F-6812B63A17CD}"/>
              </a:ext>
            </a:extLst>
          </p:cNvPr>
          <p:cNvSpPr txBox="1"/>
          <p:nvPr/>
        </p:nvSpPr>
        <p:spPr>
          <a:xfrm>
            <a:off x="914400" y="2540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૨. નૈતિક મૂલ્યોનું જીવનમાં આચરણ.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63F2E-3C01-493E-A2C5-0B769BE81657}"/>
              </a:ext>
            </a:extLst>
          </p:cNvPr>
          <p:cNvSpPr txBox="1"/>
          <p:nvPr/>
        </p:nvSpPr>
        <p:spPr>
          <a:xfrm>
            <a:off x="914400" y="2844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૩. આત્માની શુદ્ધિ અને આચારનું પાલન.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175741-5B95-66E6-1A1B-1AA9C54A5472}"/>
              </a:ext>
            </a:extLst>
          </p:cNvPr>
          <p:cNvSpPr txBox="1"/>
          <p:nvPr/>
        </p:nvSpPr>
        <p:spPr>
          <a:xfrm>
            <a:off x="914400" y="3149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૪. પારિવારિક પ્રેમ અને સંસ્કારનું સિંચન.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4E787-16D8-B25D-D62A-6C0DCC760E79}"/>
              </a:ext>
            </a:extLst>
          </p:cNvPr>
          <p:cNvSpPr txBox="1"/>
          <p:nvPr/>
        </p:nvSpPr>
        <p:spPr>
          <a:xfrm>
            <a:off x="914400" y="3454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૫. સમાજમાં સકારાત્મક પરિવર્તન.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818C72-C02D-76FF-7B1C-F2E1850A76D6}"/>
              </a:ext>
            </a:extLst>
          </p:cNvPr>
          <p:cNvSpPr txBox="1"/>
          <p:nvPr/>
        </p:nvSpPr>
        <p:spPr>
          <a:xfrm>
            <a:off x="914400" y="3759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૬. ધાર્મિકમય વાતાવરણનું સર્જન.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BD772C-B71A-05B9-AAE0-859FBE9CF85D}"/>
              </a:ext>
            </a:extLst>
          </p:cNvPr>
          <p:cNvSpPr txBox="1"/>
          <p:nvPr/>
        </p:nvSpPr>
        <p:spPr>
          <a:xfrm>
            <a:off x="889000" y="4191000"/>
            <a:ext cx="2540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2000" b="1">
                <a:latin typeface="Nirmala UI" panose="020B0502040204020203" pitchFamily="34" charset="0"/>
              </a:rPr>
              <a:t>નિયમો: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0CE413-3FEB-095E-B286-FA656995C086}"/>
              </a:ext>
            </a:extLst>
          </p:cNvPr>
          <p:cNvSpPr txBox="1"/>
          <p:nvPr/>
        </p:nvSpPr>
        <p:spPr>
          <a:xfrm>
            <a:off x="914400" y="4572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૧. દૈનિક આરાધનાની નોંધ આ પુસ્તિકામાં કરવી.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7EC766-EB01-BF73-EA9B-C967A61E3F07}"/>
              </a:ext>
            </a:extLst>
          </p:cNvPr>
          <p:cNvSpPr txBox="1"/>
          <p:nvPr/>
        </p:nvSpPr>
        <p:spPr>
          <a:xfrm>
            <a:off x="914400" y="4876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૨. ૩ જૂથ માટે અલગ પુસ્તિકા વાપરવી.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3228D7-0845-F20F-BEC5-FCD719C824D1}"/>
              </a:ext>
            </a:extLst>
          </p:cNvPr>
          <p:cNvSpPr txBox="1"/>
          <p:nvPr/>
        </p:nvSpPr>
        <p:spPr>
          <a:xfrm>
            <a:off x="914400" y="5181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૩. જૂથ-૧: જન્મ વર્ષ 2011 અથવા પછી.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811E4D-0DFE-7A4E-E767-FA991F34C6A2}"/>
              </a:ext>
            </a:extLst>
          </p:cNvPr>
          <p:cNvSpPr txBox="1"/>
          <p:nvPr/>
        </p:nvSpPr>
        <p:spPr>
          <a:xfrm>
            <a:off x="914400" y="5486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૪. જૂથ-૨: જન્મ વર્ષ 1981 થી 2010.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04798A-6086-010B-DB36-A4D7A4FD1C12}"/>
              </a:ext>
            </a:extLst>
          </p:cNvPr>
          <p:cNvSpPr txBox="1"/>
          <p:nvPr/>
        </p:nvSpPr>
        <p:spPr>
          <a:xfrm>
            <a:off x="914400" y="5791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૫. જૂથ-૩: જન્મ વર્ષ 1980 અથવા પહેલાં.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747A9E-B2EE-37EA-1226-A9C89998A216}"/>
              </a:ext>
            </a:extLst>
          </p:cNvPr>
          <p:cNvSpPr txBox="1"/>
          <p:nvPr/>
        </p:nvSpPr>
        <p:spPr>
          <a:xfrm>
            <a:off x="914400" y="6096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૬. દરરોજ કરેલા નિયમ સામે (✓) ચિહ્ન કરવું.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1273D4-2F60-AE36-7F6C-6D191B6E5762}"/>
              </a:ext>
            </a:extLst>
          </p:cNvPr>
          <p:cNvSpPr txBox="1"/>
          <p:nvPr/>
        </p:nvSpPr>
        <p:spPr>
          <a:xfrm>
            <a:off x="914400" y="6400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૭. દર મહિને અંતે કુલ પોઇન્ટ્સ નોંધવા.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CF8BF4-0E57-1D8C-FF43-058758CEBF26}"/>
              </a:ext>
            </a:extLst>
          </p:cNvPr>
          <p:cNvSpPr txBox="1"/>
          <p:nvPr/>
        </p:nvSpPr>
        <p:spPr>
          <a:xfrm>
            <a:off x="3175000" y="6883400"/>
            <a:ext cx="4318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આયોજક: શ્રી પૂરણ પંચ મહાજન</a:t>
            </a:r>
            <a:endParaRPr lang="en-IN" sz="1400" b="1">
              <a:latin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869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22EACF-36F0-BBE4-AB56-FCD314916729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71048-6D35-1864-7832-2FE2B6CFEC57}"/>
              </a:ext>
            </a:extLst>
          </p:cNvPr>
          <p:cNvSpPr txBox="1"/>
          <p:nvPr/>
        </p:nvSpPr>
        <p:spPr>
          <a:xfrm>
            <a:off x="3175000" y="304800"/>
            <a:ext cx="4318000" cy="615553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3400" b="1">
                <a:latin typeface="Nirmala UI" panose="020B0502040204020203" pitchFamily="34" charset="0"/>
              </a:rPr>
              <a:t>સમર્પણમ્</a:t>
            </a:r>
            <a:endParaRPr lang="en-IN" sz="3400" b="1">
              <a:latin typeface="Nirmala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1AE77-3F21-3B6F-7EFE-826D631EA841}"/>
              </a:ext>
            </a:extLst>
          </p:cNvPr>
          <p:cNvSpPr txBox="1"/>
          <p:nvPr/>
        </p:nvSpPr>
        <p:spPr>
          <a:xfrm>
            <a:off x="3238500" y="762000"/>
            <a:ext cx="4191000" cy="369332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b="1">
                <a:latin typeface="Nirmala UI" panose="020B0502040204020203" pitchFamily="34" charset="0"/>
              </a:rPr>
              <a:t>સંભવ ગૌરવ</a:t>
            </a:r>
            <a:endParaRPr lang="en-IN" b="1">
              <a:latin typeface="Nirmala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F921B-8CE3-4821-9AFA-A221C603E543}"/>
              </a:ext>
            </a:extLst>
          </p:cNvPr>
          <p:cNvSpPr txBox="1"/>
          <p:nvPr/>
        </p:nvSpPr>
        <p:spPr>
          <a:xfrm>
            <a:off x="1524000" y="1143000"/>
            <a:ext cx="7747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>
                <a:latin typeface="Nirmala UI" panose="020B0502040204020203" pitchFamily="34" charset="0"/>
              </a:rPr>
              <a:t>જીવનની દિશા બતાવનારી, જીવનને સત્માર્ગે ઉન્નતિ તરફ દોરનારી, શ્રી સંભવનાથ દાદાની ધર્મભાવના</a:t>
            </a:r>
            <a:endParaRPr lang="en-IN" sz="1400">
              <a:latin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513C2-E53C-ADF4-ACD0-B186799D9FA0}"/>
              </a:ext>
            </a:extLst>
          </p:cNvPr>
          <p:cNvSpPr/>
          <p:nvPr/>
        </p:nvSpPr>
        <p:spPr>
          <a:xfrm>
            <a:off x="635000" y="1676400"/>
            <a:ext cx="9398000" cy="508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0A9B8-3FA5-DD23-7BA7-077AF1333761}"/>
              </a:ext>
            </a:extLst>
          </p:cNvPr>
          <p:cNvSpPr txBox="1"/>
          <p:nvPr/>
        </p:nvSpPr>
        <p:spPr>
          <a:xfrm>
            <a:off x="889000" y="1841500"/>
            <a:ext cx="2540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2000" b="1">
                <a:latin typeface="Nirmala UI" panose="020B0502040204020203" pitchFamily="34" charset="0"/>
              </a:rPr>
              <a:t>ઉદ્દેશ્ય: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5B687-C9FA-9EBC-96AC-37DC28063878}"/>
              </a:ext>
            </a:extLst>
          </p:cNvPr>
          <p:cNvSpPr txBox="1"/>
          <p:nvPr/>
        </p:nvSpPr>
        <p:spPr>
          <a:xfrm>
            <a:off x="914400" y="2235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૧. દાદા પ્રત્યે કૃતજ્ઞતાની અભિવ્યક્તિ.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88D5B-0669-225C-F2CD-37197770B4DB}"/>
              </a:ext>
            </a:extLst>
          </p:cNvPr>
          <p:cNvSpPr txBox="1"/>
          <p:nvPr/>
        </p:nvSpPr>
        <p:spPr>
          <a:xfrm>
            <a:off x="914400" y="2540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૨. નૈતિક મૂલ્યોનું જીવનમાં આચરણ.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6BEA2-18A5-8930-C362-ABE10E73CCD6}"/>
              </a:ext>
            </a:extLst>
          </p:cNvPr>
          <p:cNvSpPr txBox="1"/>
          <p:nvPr/>
        </p:nvSpPr>
        <p:spPr>
          <a:xfrm>
            <a:off x="914400" y="2844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૩. આત્માની શુદ્ધિ અને આચારનું પાલન.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F0E572-67AF-0FE8-4DF7-CD2D456E57EE}"/>
              </a:ext>
            </a:extLst>
          </p:cNvPr>
          <p:cNvSpPr txBox="1"/>
          <p:nvPr/>
        </p:nvSpPr>
        <p:spPr>
          <a:xfrm>
            <a:off x="914400" y="3149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૪. પારિવારિક પ્રેમ અને સંસ્કારનું સિંચન.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C83942-0A35-8E63-608F-8B723B07170E}"/>
              </a:ext>
            </a:extLst>
          </p:cNvPr>
          <p:cNvSpPr txBox="1"/>
          <p:nvPr/>
        </p:nvSpPr>
        <p:spPr>
          <a:xfrm>
            <a:off x="914400" y="3454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૫. સમાજમાં સકારાત્મક પરિવર્તન.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11DDD-AE69-5419-7EE0-FD4E58E71203}"/>
              </a:ext>
            </a:extLst>
          </p:cNvPr>
          <p:cNvSpPr txBox="1"/>
          <p:nvPr/>
        </p:nvSpPr>
        <p:spPr>
          <a:xfrm>
            <a:off x="914400" y="3759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૬. ધાર્મિકમય વાતાવરણનું સર્જન.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881294-7A98-FB35-0D07-627C1066B7D1}"/>
              </a:ext>
            </a:extLst>
          </p:cNvPr>
          <p:cNvSpPr txBox="1"/>
          <p:nvPr/>
        </p:nvSpPr>
        <p:spPr>
          <a:xfrm>
            <a:off x="889000" y="4191000"/>
            <a:ext cx="2540000" cy="400110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2000" b="1">
                <a:latin typeface="Nirmala UI" panose="020B0502040204020203" pitchFamily="34" charset="0"/>
              </a:rPr>
              <a:t>નિયમો:</a:t>
            </a:r>
            <a:endParaRPr lang="en-IN" sz="2000" b="1">
              <a:latin typeface="Nirmala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CEF7BB-C930-54AE-493C-1C6AF970EC78}"/>
              </a:ext>
            </a:extLst>
          </p:cNvPr>
          <p:cNvSpPr txBox="1"/>
          <p:nvPr/>
        </p:nvSpPr>
        <p:spPr>
          <a:xfrm>
            <a:off x="914400" y="4572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૧. દૈનિક આરાધનાની નોંધ આ પુસ્તિકામાં કરવી.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278488-DF7D-9D97-9B72-C0F9C0D509AC}"/>
              </a:ext>
            </a:extLst>
          </p:cNvPr>
          <p:cNvSpPr txBox="1"/>
          <p:nvPr/>
        </p:nvSpPr>
        <p:spPr>
          <a:xfrm>
            <a:off x="914400" y="4876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૨. ૩ જૂથ માટે અલગ પુસ્તિકા વાપરવી.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C63970-D67E-D8E9-BE21-ACD24CC67E8F}"/>
              </a:ext>
            </a:extLst>
          </p:cNvPr>
          <p:cNvSpPr txBox="1"/>
          <p:nvPr/>
        </p:nvSpPr>
        <p:spPr>
          <a:xfrm>
            <a:off x="914400" y="5181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૩. જૂથ-૧: જન્મ વર્ષ 2011 અથવા પછી.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09CAA6-1D90-A829-86B3-6E50B44C4FFC}"/>
              </a:ext>
            </a:extLst>
          </p:cNvPr>
          <p:cNvSpPr txBox="1"/>
          <p:nvPr/>
        </p:nvSpPr>
        <p:spPr>
          <a:xfrm>
            <a:off x="914400" y="5486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૪. જૂથ-૨: જન્મ વર્ષ 1981 થી 2010.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21F957-D6E9-7659-3F41-FE399A54BF06}"/>
              </a:ext>
            </a:extLst>
          </p:cNvPr>
          <p:cNvSpPr txBox="1"/>
          <p:nvPr/>
        </p:nvSpPr>
        <p:spPr>
          <a:xfrm>
            <a:off x="914400" y="5791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૫. જૂથ-૩: જન્મ વર્ષ 1980 અથવા પહેલાં.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1DC097-93C4-8D46-6361-FB9B3F85A073}"/>
              </a:ext>
            </a:extLst>
          </p:cNvPr>
          <p:cNvSpPr txBox="1"/>
          <p:nvPr/>
        </p:nvSpPr>
        <p:spPr>
          <a:xfrm>
            <a:off x="914400" y="6096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૬. દરરોજ કરેલા નિયમ સામે (✓) ચિહ્ન કરવું.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742A0C-1BA8-4016-5238-ADAB48D8D4F6}"/>
              </a:ext>
            </a:extLst>
          </p:cNvPr>
          <p:cNvSpPr txBox="1"/>
          <p:nvPr/>
        </p:nvSpPr>
        <p:spPr>
          <a:xfrm>
            <a:off x="914400" y="6400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gu-IN" sz="1300">
                <a:latin typeface="Nirmala UI" panose="020B0502040204020203" pitchFamily="34" charset="0"/>
              </a:rPr>
              <a:t>૭. દર મહિને અંતે કુલ પોઇન્ટ્સ નોંધવા.</a:t>
            </a:r>
            <a:endParaRPr lang="en-IN" sz="1300">
              <a:latin typeface="Nirmala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214C7A-ADAF-F8E0-054A-0C512FA06B8C}"/>
              </a:ext>
            </a:extLst>
          </p:cNvPr>
          <p:cNvSpPr txBox="1"/>
          <p:nvPr/>
        </p:nvSpPr>
        <p:spPr>
          <a:xfrm>
            <a:off x="3175000" y="6883400"/>
            <a:ext cx="4318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gu-IN" sz="1400" b="1">
                <a:latin typeface="Nirmala UI" panose="020B0502040204020203" pitchFamily="34" charset="0"/>
              </a:rPr>
              <a:t>આયોજક: શ્રી પૂરણ પંચ મહાજન</a:t>
            </a:r>
            <a:endParaRPr lang="en-IN" sz="1400" b="1">
              <a:latin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11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869147-9095-9156-2AAF-32A225054ED0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53E28-C514-B0BC-B8DB-FCC70D48119C}"/>
              </a:ext>
            </a:extLst>
          </p:cNvPr>
          <p:cNvSpPr txBox="1"/>
          <p:nvPr/>
        </p:nvSpPr>
        <p:spPr>
          <a:xfrm>
            <a:off x="3048000" y="304800"/>
            <a:ext cx="4572000" cy="55399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sz="3000" b="1">
                <a:latin typeface="Libre Baskerville" panose="020F0502020204030204" pitchFamily="2" charset="0"/>
              </a:rPr>
              <a:t>SAMARPANAM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E8B53-AD89-D3AF-33F2-4125AD48C79C}"/>
              </a:ext>
            </a:extLst>
          </p:cNvPr>
          <p:cNvSpPr txBox="1"/>
          <p:nvPr/>
        </p:nvSpPr>
        <p:spPr>
          <a:xfrm>
            <a:off x="3238500" y="787400"/>
            <a:ext cx="4191000" cy="369332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b="1">
                <a:latin typeface="Calibri" panose="020F0502020204030204" pitchFamily="34" charset="0"/>
              </a:rPr>
              <a:t>Sambhav Bal Jyoti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0E32E-CF61-5003-7D6C-70AD683C48A1}"/>
              </a:ext>
            </a:extLst>
          </p:cNvPr>
          <p:cNvSpPr txBox="1"/>
          <p:nvPr/>
        </p:nvSpPr>
        <p:spPr>
          <a:xfrm>
            <a:off x="1143000" y="1168400"/>
            <a:ext cx="8382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US" sz="1300">
                <a:latin typeface="Calibri" panose="020F0502020204030204" pitchFamily="34" charset="0"/>
              </a:rPr>
              <a:t>A spiritual initiative inspired by Shri Sambhavnath Dada to guide life toward discipline, values, and inner growth.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4E30C5-0154-EE3F-3965-115C6818610A}"/>
              </a:ext>
            </a:extLst>
          </p:cNvPr>
          <p:cNvSpPr/>
          <p:nvPr/>
        </p:nvSpPr>
        <p:spPr>
          <a:xfrm>
            <a:off x="635000" y="1676400"/>
            <a:ext cx="9398000" cy="508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572F6-C8BC-73BD-4C0A-926E30C7D55F}"/>
              </a:ext>
            </a:extLst>
          </p:cNvPr>
          <p:cNvSpPr txBox="1"/>
          <p:nvPr/>
        </p:nvSpPr>
        <p:spPr>
          <a:xfrm>
            <a:off x="889000" y="1841500"/>
            <a:ext cx="2794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2200" b="1">
                <a:latin typeface="Calibri" panose="020F0502020204030204" pitchFamily="34" charset="0"/>
              </a:rPr>
              <a:t>Purpose: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5AB473-2E80-D895-2AD9-4BC050F37013}"/>
              </a:ext>
            </a:extLst>
          </p:cNvPr>
          <p:cNvSpPr txBox="1"/>
          <p:nvPr/>
        </p:nvSpPr>
        <p:spPr>
          <a:xfrm>
            <a:off x="914400" y="2260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1. Expression of gratitude toward Dada.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2C5802-2AF8-81DB-0763-67C41FCEB134}"/>
              </a:ext>
            </a:extLst>
          </p:cNvPr>
          <p:cNvSpPr txBox="1"/>
          <p:nvPr/>
        </p:nvSpPr>
        <p:spPr>
          <a:xfrm>
            <a:off x="914400" y="25527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2. Practice ethical values in daily life.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969A25-8C5C-1D3B-F8D5-0CE95A1461B8}"/>
              </a:ext>
            </a:extLst>
          </p:cNvPr>
          <p:cNvSpPr txBox="1"/>
          <p:nvPr/>
        </p:nvSpPr>
        <p:spPr>
          <a:xfrm>
            <a:off x="914400" y="2844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3. Inner purification and disciplined conduct.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58050-6B9B-5642-90F7-2EC1EB99CBA3}"/>
              </a:ext>
            </a:extLst>
          </p:cNvPr>
          <p:cNvSpPr txBox="1"/>
          <p:nvPr/>
        </p:nvSpPr>
        <p:spPr>
          <a:xfrm>
            <a:off x="914400" y="31369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4. Nurturing family love and values.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FCF47-47B1-6B4F-B9D7-4046FB0077E3}"/>
              </a:ext>
            </a:extLst>
          </p:cNvPr>
          <p:cNvSpPr txBox="1"/>
          <p:nvPr/>
        </p:nvSpPr>
        <p:spPr>
          <a:xfrm>
            <a:off x="914400" y="3429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1300">
                <a:latin typeface="Calibri" panose="020F0502020204030204" pitchFamily="34" charset="0"/>
              </a:rPr>
              <a:t>5. Positive transformation in society.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FF40AF-674A-A42D-FD88-2A3B72B92885}"/>
              </a:ext>
            </a:extLst>
          </p:cNvPr>
          <p:cNvSpPr txBox="1"/>
          <p:nvPr/>
        </p:nvSpPr>
        <p:spPr>
          <a:xfrm>
            <a:off x="914400" y="37211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6. Creating a spiritually uplifting environment.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7F9253-9843-CACC-601C-369687184D45}"/>
              </a:ext>
            </a:extLst>
          </p:cNvPr>
          <p:cNvSpPr txBox="1"/>
          <p:nvPr/>
        </p:nvSpPr>
        <p:spPr>
          <a:xfrm>
            <a:off x="889000" y="4191000"/>
            <a:ext cx="2794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2200" b="1">
                <a:latin typeface="Calibri" panose="020F0502020204030204" pitchFamily="34" charset="0"/>
              </a:rPr>
              <a:t>Rules: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AE7AD-060B-8C61-3614-6A2C2E38438D}"/>
              </a:ext>
            </a:extLst>
          </p:cNvPr>
          <p:cNvSpPr txBox="1"/>
          <p:nvPr/>
        </p:nvSpPr>
        <p:spPr>
          <a:xfrm>
            <a:off x="914400" y="4572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1. Record daily niyams in this booklet.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42FBB4-98BE-76A3-09EC-57CA8F6C538E}"/>
              </a:ext>
            </a:extLst>
          </p:cNvPr>
          <p:cNvSpPr txBox="1"/>
          <p:nvPr/>
        </p:nvSpPr>
        <p:spPr>
          <a:xfrm>
            <a:off x="914400" y="48641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2. Use separate booklets for all 3 age groups.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15F80A-506F-C258-B2DC-74A403031A9D}"/>
              </a:ext>
            </a:extLst>
          </p:cNvPr>
          <p:cNvSpPr txBox="1"/>
          <p:nvPr/>
        </p:nvSpPr>
        <p:spPr>
          <a:xfrm>
            <a:off x="914400" y="5156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3. Group-1: Birth year 2011 or later.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C8BE36-95C4-EBE4-FF46-943537250F81}"/>
              </a:ext>
            </a:extLst>
          </p:cNvPr>
          <p:cNvSpPr txBox="1"/>
          <p:nvPr/>
        </p:nvSpPr>
        <p:spPr>
          <a:xfrm>
            <a:off x="914400" y="54483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4. Group-2: Birth year 1981 to 2010.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E8570A-19E2-1113-20D3-EAC073FFC2F1}"/>
              </a:ext>
            </a:extLst>
          </p:cNvPr>
          <p:cNvSpPr txBox="1"/>
          <p:nvPr/>
        </p:nvSpPr>
        <p:spPr>
          <a:xfrm>
            <a:off x="914400" y="5740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5. Group-3: Birth year 1980 or earlier.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31B036-4EB6-70E0-03F4-B0B480713D5D}"/>
              </a:ext>
            </a:extLst>
          </p:cNvPr>
          <p:cNvSpPr txBox="1"/>
          <p:nvPr/>
        </p:nvSpPr>
        <p:spPr>
          <a:xfrm>
            <a:off x="914400" y="60325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6. Mark completed niyams with a check (✓) daily.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613EB-E8DF-2A7A-5713-CD74230C5D19}"/>
              </a:ext>
            </a:extLst>
          </p:cNvPr>
          <p:cNvSpPr txBox="1"/>
          <p:nvPr/>
        </p:nvSpPr>
        <p:spPr>
          <a:xfrm>
            <a:off x="914400" y="6324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7. Record monthly total points at month end.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91CEB6-30F7-586C-D2EE-ED1777174683}"/>
              </a:ext>
            </a:extLst>
          </p:cNvPr>
          <p:cNvSpPr txBox="1"/>
          <p:nvPr/>
        </p:nvSpPr>
        <p:spPr>
          <a:xfrm>
            <a:off x="2984500" y="6883400"/>
            <a:ext cx="4699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US" sz="1400" b="1">
                <a:latin typeface="Calibri" panose="020F0502020204030204" pitchFamily="34" charset="0"/>
              </a:rPr>
              <a:t>Organizer: Shri Pooran Panch Mahajan</a:t>
            </a:r>
            <a:endParaRPr lang="en-IN" sz="1400" b="1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7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5D325B-2E8F-105A-CB83-13494C4CE468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8A024-A73A-47B0-7546-E38FD47C752E}"/>
              </a:ext>
            </a:extLst>
          </p:cNvPr>
          <p:cNvSpPr txBox="1"/>
          <p:nvPr/>
        </p:nvSpPr>
        <p:spPr>
          <a:xfrm>
            <a:off x="3048000" y="304800"/>
            <a:ext cx="4572000" cy="55399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sz="3000" b="1">
                <a:latin typeface="Libre Baskerville" panose="02000000000000000000" pitchFamily="2" charset="0"/>
              </a:rPr>
              <a:t>SAMARPANAM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DA61-167A-1014-6A7C-A77BBCC3D598}"/>
              </a:ext>
            </a:extLst>
          </p:cNvPr>
          <p:cNvSpPr txBox="1"/>
          <p:nvPr/>
        </p:nvSpPr>
        <p:spPr>
          <a:xfrm>
            <a:off x="3238500" y="787400"/>
            <a:ext cx="4191000" cy="369332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b="1">
                <a:latin typeface="Calibri" panose="020F0502020204030204" pitchFamily="34" charset="0"/>
              </a:rPr>
              <a:t>Sambhav Yuva Shakti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6D142-819A-468E-F4E6-C6DF76BCFBFD}"/>
              </a:ext>
            </a:extLst>
          </p:cNvPr>
          <p:cNvSpPr txBox="1"/>
          <p:nvPr/>
        </p:nvSpPr>
        <p:spPr>
          <a:xfrm>
            <a:off x="1143000" y="1168400"/>
            <a:ext cx="8382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US" sz="1300">
                <a:latin typeface="Calibri" panose="020F0502020204030204" pitchFamily="34" charset="0"/>
              </a:rPr>
              <a:t>A spiritual initiative inspired by Shri Sambhavnath Dada to guide life toward discipline, values, and inner growth.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DD5EF-9704-B061-ABA5-CBE2B0F3611E}"/>
              </a:ext>
            </a:extLst>
          </p:cNvPr>
          <p:cNvSpPr/>
          <p:nvPr/>
        </p:nvSpPr>
        <p:spPr>
          <a:xfrm>
            <a:off x="635000" y="1676400"/>
            <a:ext cx="9398000" cy="508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4CE10-4EAB-98F8-7FC3-A80AC593DE87}"/>
              </a:ext>
            </a:extLst>
          </p:cNvPr>
          <p:cNvSpPr txBox="1"/>
          <p:nvPr/>
        </p:nvSpPr>
        <p:spPr>
          <a:xfrm>
            <a:off x="889000" y="1841500"/>
            <a:ext cx="2794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2200" b="1">
                <a:latin typeface="Calibri" panose="020F0502020204030204" pitchFamily="34" charset="0"/>
              </a:rPr>
              <a:t>Purpose: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63B7F-1616-61A7-C528-6B6B32E7AFFF}"/>
              </a:ext>
            </a:extLst>
          </p:cNvPr>
          <p:cNvSpPr txBox="1"/>
          <p:nvPr/>
        </p:nvSpPr>
        <p:spPr>
          <a:xfrm>
            <a:off x="914400" y="2260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1. Expression of gratitude toward Dada.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5DA99-A246-B52D-108D-BD36C611EC92}"/>
              </a:ext>
            </a:extLst>
          </p:cNvPr>
          <p:cNvSpPr txBox="1"/>
          <p:nvPr/>
        </p:nvSpPr>
        <p:spPr>
          <a:xfrm>
            <a:off x="914400" y="25527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2. Practice ethical values in daily life.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B8DE0-F48C-AA30-930F-D011E2E8FE10}"/>
              </a:ext>
            </a:extLst>
          </p:cNvPr>
          <p:cNvSpPr txBox="1"/>
          <p:nvPr/>
        </p:nvSpPr>
        <p:spPr>
          <a:xfrm>
            <a:off x="914400" y="2844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3. Inner purification and disciplined conduct.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F784E-BE7A-D207-2AD6-2EFB2A4AC8E4}"/>
              </a:ext>
            </a:extLst>
          </p:cNvPr>
          <p:cNvSpPr txBox="1"/>
          <p:nvPr/>
        </p:nvSpPr>
        <p:spPr>
          <a:xfrm>
            <a:off x="914400" y="31369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4. Nurturing family love and values.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8F68BD-CD80-42C1-5B22-5F1CE8462AA1}"/>
              </a:ext>
            </a:extLst>
          </p:cNvPr>
          <p:cNvSpPr txBox="1"/>
          <p:nvPr/>
        </p:nvSpPr>
        <p:spPr>
          <a:xfrm>
            <a:off x="914400" y="3429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1300">
                <a:latin typeface="Calibri" panose="020F0502020204030204" pitchFamily="34" charset="0"/>
              </a:rPr>
              <a:t>5. Positive transformation in society.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55B23B-DE78-DD9A-05CB-AC9E93926F82}"/>
              </a:ext>
            </a:extLst>
          </p:cNvPr>
          <p:cNvSpPr txBox="1"/>
          <p:nvPr/>
        </p:nvSpPr>
        <p:spPr>
          <a:xfrm>
            <a:off x="914400" y="37211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6. Creating a spiritually uplifting environment.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91DE95-B41A-59EF-30E3-87832E9A6DCF}"/>
              </a:ext>
            </a:extLst>
          </p:cNvPr>
          <p:cNvSpPr txBox="1"/>
          <p:nvPr/>
        </p:nvSpPr>
        <p:spPr>
          <a:xfrm>
            <a:off x="889000" y="4191000"/>
            <a:ext cx="2794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2200" b="1">
                <a:latin typeface="Calibri" panose="020F0502020204030204" pitchFamily="34" charset="0"/>
              </a:rPr>
              <a:t>Rules: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FD046-76D6-5505-5157-D192F6AFFBC9}"/>
              </a:ext>
            </a:extLst>
          </p:cNvPr>
          <p:cNvSpPr txBox="1"/>
          <p:nvPr/>
        </p:nvSpPr>
        <p:spPr>
          <a:xfrm>
            <a:off x="914400" y="4572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1. Record daily niyams in this booklet.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EE49B2-2855-5DBB-D55B-A96D937BB33D}"/>
              </a:ext>
            </a:extLst>
          </p:cNvPr>
          <p:cNvSpPr txBox="1"/>
          <p:nvPr/>
        </p:nvSpPr>
        <p:spPr>
          <a:xfrm>
            <a:off x="914400" y="48641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2. Use separate booklets for all 3 age groups.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506819-9135-A6B7-54C9-ECBE8C5FA129}"/>
              </a:ext>
            </a:extLst>
          </p:cNvPr>
          <p:cNvSpPr txBox="1"/>
          <p:nvPr/>
        </p:nvSpPr>
        <p:spPr>
          <a:xfrm>
            <a:off x="914400" y="5156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3. Group-1: Birth year 2011 or later.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D23230-674E-CF8F-600B-6B0E0B62080D}"/>
              </a:ext>
            </a:extLst>
          </p:cNvPr>
          <p:cNvSpPr txBox="1"/>
          <p:nvPr/>
        </p:nvSpPr>
        <p:spPr>
          <a:xfrm>
            <a:off x="914400" y="54483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4. Group-2: Birth year 1981 to 2010.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342735-DA7F-8776-2309-574EC77C46B6}"/>
              </a:ext>
            </a:extLst>
          </p:cNvPr>
          <p:cNvSpPr txBox="1"/>
          <p:nvPr/>
        </p:nvSpPr>
        <p:spPr>
          <a:xfrm>
            <a:off x="914400" y="5740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5. Group-3: Birth year 1980 or earlier.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072450-44A9-9A1D-3F49-FD345598DF67}"/>
              </a:ext>
            </a:extLst>
          </p:cNvPr>
          <p:cNvSpPr txBox="1"/>
          <p:nvPr/>
        </p:nvSpPr>
        <p:spPr>
          <a:xfrm>
            <a:off x="914400" y="60325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6. Mark completed niyams with a check (✓) daily.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79B616-3BBF-51FB-5263-E7A1D4E02C7D}"/>
              </a:ext>
            </a:extLst>
          </p:cNvPr>
          <p:cNvSpPr txBox="1"/>
          <p:nvPr/>
        </p:nvSpPr>
        <p:spPr>
          <a:xfrm>
            <a:off x="914400" y="6324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7. Record monthly total points at month end.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93F10C-D3A0-116E-EADE-2C27F401F74C}"/>
              </a:ext>
            </a:extLst>
          </p:cNvPr>
          <p:cNvSpPr txBox="1"/>
          <p:nvPr/>
        </p:nvSpPr>
        <p:spPr>
          <a:xfrm>
            <a:off x="2984500" y="6883400"/>
            <a:ext cx="4699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US" sz="1400" b="1">
                <a:latin typeface="Calibri" panose="020F0502020204030204" pitchFamily="34" charset="0"/>
              </a:rPr>
              <a:t>Organizer: Shri Pooran Panch Mahajan</a:t>
            </a:r>
            <a:endParaRPr lang="en-IN" sz="1400" b="1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01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BAA7DD-81C8-7C70-6017-5CFA5BBFF529}"/>
              </a:ext>
            </a:extLst>
          </p:cNvPr>
          <p:cNvSpPr/>
          <p:nvPr/>
        </p:nvSpPr>
        <p:spPr>
          <a:xfrm>
            <a:off x="101600" y="101600"/>
            <a:ext cx="10490200" cy="7353300"/>
          </a:xfrm>
          <a:prstGeom prst="rect">
            <a:avLst/>
          </a:prstGeom>
          <a:noFill/>
          <a:ln w="19050" cap="flat" cmpd="sng" algn="ctr">
            <a:solidFill>
              <a:srgbClr val="2B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4E901-E19B-1345-A5B3-61282FCD2BD8}"/>
              </a:ext>
            </a:extLst>
          </p:cNvPr>
          <p:cNvSpPr txBox="1"/>
          <p:nvPr/>
        </p:nvSpPr>
        <p:spPr>
          <a:xfrm>
            <a:off x="3048000" y="304800"/>
            <a:ext cx="4572000" cy="55399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sz="3000" b="1">
                <a:latin typeface="Libre Baskerville" panose="02000000000000000000" pitchFamily="2" charset="0"/>
              </a:rPr>
              <a:t>SAMARPANAM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0F879-54A7-5DA2-E04F-BE2AB2BBBF37}"/>
              </a:ext>
            </a:extLst>
          </p:cNvPr>
          <p:cNvSpPr txBox="1"/>
          <p:nvPr/>
        </p:nvSpPr>
        <p:spPr>
          <a:xfrm>
            <a:off x="3238500" y="787400"/>
            <a:ext cx="4191000" cy="369332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IN" b="1">
                <a:latin typeface="Calibri" panose="020F0502020204030204" pitchFamily="34" charset="0"/>
              </a:rPr>
              <a:t>Sambhav Gaurav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DE8CB-0460-1F76-3DF9-FD0445102B40}"/>
              </a:ext>
            </a:extLst>
          </p:cNvPr>
          <p:cNvSpPr txBox="1"/>
          <p:nvPr/>
        </p:nvSpPr>
        <p:spPr>
          <a:xfrm>
            <a:off x="1143000" y="1168400"/>
            <a:ext cx="8382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US" sz="1300">
                <a:latin typeface="Calibri" panose="020F0502020204030204" pitchFamily="34" charset="0"/>
              </a:rPr>
              <a:t>A spiritual initiative inspired by Shri Sambhavnath Dada to guide life toward discipline, values, and inner growth.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1335E5-7388-467A-BC21-76EE5CD8A494}"/>
              </a:ext>
            </a:extLst>
          </p:cNvPr>
          <p:cNvSpPr/>
          <p:nvPr/>
        </p:nvSpPr>
        <p:spPr>
          <a:xfrm>
            <a:off x="635000" y="1676400"/>
            <a:ext cx="9398000" cy="5080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81670-FD21-07F7-E63C-7BFDEF39621E}"/>
              </a:ext>
            </a:extLst>
          </p:cNvPr>
          <p:cNvSpPr txBox="1"/>
          <p:nvPr/>
        </p:nvSpPr>
        <p:spPr>
          <a:xfrm>
            <a:off x="889000" y="1841500"/>
            <a:ext cx="2794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2200" b="1">
                <a:latin typeface="Calibri" panose="020F0502020204030204" pitchFamily="34" charset="0"/>
              </a:rPr>
              <a:t>Purpose: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B1EB6-793A-4360-3CF2-E5BFCB8F77BF}"/>
              </a:ext>
            </a:extLst>
          </p:cNvPr>
          <p:cNvSpPr txBox="1"/>
          <p:nvPr/>
        </p:nvSpPr>
        <p:spPr>
          <a:xfrm>
            <a:off x="914400" y="2260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1. Expression of gratitude toward Dada.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1828C-4FA1-C6C2-01F1-3C11CE4323A7}"/>
              </a:ext>
            </a:extLst>
          </p:cNvPr>
          <p:cNvSpPr txBox="1"/>
          <p:nvPr/>
        </p:nvSpPr>
        <p:spPr>
          <a:xfrm>
            <a:off x="914400" y="25527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2. Practice ethical values in daily life.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970AB-E9E7-063A-EF08-1D95ECA3E3AE}"/>
              </a:ext>
            </a:extLst>
          </p:cNvPr>
          <p:cNvSpPr txBox="1"/>
          <p:nvPr/>
        </p:nvSpPr>
        <p:spPr>
          <a:xfrm>
            <a:off x="914400" y="28448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3. Inner purification and disciplined conduct.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96136-F394-A222-4C4D-65028EBBCB1C}"/>
              </a:ext>
            </a:extLst>
          </p:cNvPr>
          <p:cNvSpPr txBox="1"/>
          <p:nvPr/>
        </p:nvSpPr>
        <p:spPr>
          <a:xfrm>
            <a:off x="914400" y="31369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4. Nurturing family love and values.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351A70-1DD0-4F4A-D785-88EE9D04F25F}"/>
              </a:ext>
            </a:extLst>
          </p:cNvPr>
          <p:cNvSpPr txBox="1"/>
          <p:nvPr/>
        </p:nvSpPr>
        <p:spPr>
          <a:xfrm>
            <a:off x="914400" y="3429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1300">
                <a:latin typeface="Calibri" panose="020F0502020204030204" pitchFamily="34" charset="0"/>
              </a:rPr>
              <a:t>5. Positive transformation in society.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1F749E-6ABC-DAB9-63D3-54FE3DD06A2B}"/>
              </a:ext>
            </a:extLst>
          </p:cNvPr>
          <p:cNvSpPr txBox="1"/>
          <p:nvPr/>
        </p:nvSpPr>
        <p:spPr>
          <a:xfrm>
            <a:off x="914400" y="37211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6. Creating a spiritually uplifting environment.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A2C361-B4C9-5F0F-139C-752EF1B54E37}"/>
              </a:ext>
            </a:extLst>
          </p:cNvPr>
          <p:cNvSpPr txBox="1"/>
          <p:nvPr/>
        </p:nvSpPr>
        <p:spPr>
          <a:xfrm>
            <a:off x="889000" y="4191000"/>
            <a:ext cx="2794000" cy="43088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IN" sz="2200" b="1">
                <a:latin typeface="Calibri" panose="020F0502020204030204" pitchFamily="34" charset="0"/>
              </a:rPr>
              <a:t>Rules: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6CE540-0AE9-F2B6-2915-C8FFEC23F0E7}"/>
              </a:ext>
            </a:extLst>
          </p:cNvPr>
          <p:cNvSpPr txBox="1"/>
          <p:nvPr/>
        </p:nvSpPr>
        <p:spPr>
          <a:xfrm>
            <a:off x="914400" y="45720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1. Record daily niyams in this booklet.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05DCD2-21B8-41B5-D498-4B5D053AF741}"/>
              </a:ext>
            </a:extLst>
          </p:cNvPr>
          <p:cNvSpPr txBox="1"/>
          <p:nvPr/>
        </p:nvSpPr>
        <p:spPr>
          <a:xfrm>
            <a:off x="914400" y="48641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2. Use separate booklets for all 3 age groups.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4C1090-3C75-DEF3-85B1-9EC76610EB47}"/>
              </a:ext>
            </a:extLst>
          </p:cNvPr>
          <p:cNvSpPr txBox="1"/>
          <p:nvPr/>
        </p:nvSpPr>
        <p:spPr>
          <a:xfrm>
            <a:off x="914400" y="51562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3. Group-1: Birth year 2011 or later.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8CCB4E-A5F6-5D94-E8D5-178C77B8BB2C}"/>
              </a:ext>
            </a:extLst>
          </p:cNvPr>
          <p:cNvSpPr txBox="1"/>
          <p:nvPr/>
        </p:nvSpPr>
        <p:spPr>
          <a:xfrm>
            <a:off x="914400" y="54483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4. Group-2: Birth year 1981 to 2010.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040153-99AB-AD0E-08B9-CAA291D98CC1}"/>
              </a:ext>
            </a:extLst>
          </p:cNvPr>
          <p:cNvSpPr txBox="1"/>
          <p:nvPr/>
        </p:nvSpPr>
        <p:spPr>
          <a:xfrm>
            <a:off x="914400" y="57404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5. Group-3: Birth year 1980 or earlier.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A60563-B339-E23B-05EB-CD8AC225EA2C}"/>
              </a:ext>
            </a:extLst>
          </p:cNvPr>
          <p:cNvSpPr txBox="1"/>
          <p:nvPr/>
        </p:nvSpPr>
        <p:spPr>
          <a:xfrm>
            <a:off x="914400" y="60325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6. Mark completed niyams with a check (✓) daily.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1A7241-BCDD-50D2-7995-1B30102F2423}"/>
              </a:ext>
            </a:extLst>
          </p:cNvPr>
          <p:cNvSpPr txBox="1"/>
          <p:nvPr/>
        </p:nvSpPr>
        <p:spPr>
          <a:xfrm>
            <a:off x="914400" y="6324600"/>
            <a:ext cx="8763000" cy="292388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r>
              <a:rPr lang="en-US" sz="1300">
                <a:latin typeface="Calibri" panose="020F0502020204030204" pitchFamily="34" charset="0"/>
              </a:rPr>
              <a:t>7. Record monthly total points at month end.</a:t>
            </a:r>
            <a:endParaRPr lang="en-IN" sz="1300"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766858-C731-7EA9-C734-B2A7873C0255}"/>
              </a:ext>
            </a:extLst>
          </p:cNvPr>
          <p:cNvSpPr txBox="1"/>
          <p:nvPr/>
        </p:nvSpPr>
        <p:spPr>
          <a:xfrm>
            <a:off x="2984500" y="6883400"/>
            <a:ext cx="4699000" cy="307777"/>
          </a:xfrm>
          <a:prstGeom prst="rect">
            <a:avLst/>
          </a:prstGeom>
          <a:noFill/>
        </p:spPr>
        <p:txBody>
          <a:bodyPr vert="horz" rtlCol="0" anchor="ctr" anchorCtr="1">
            <a:spAutoFit/>
          </a:bodyPr>
          <a:lstStyle/>
          <a:p>
            <a:pPr algn="ctr"/>
            <a:r>
              <a:rPr lang="en-US" sz="1400" b="1">
                <a:latin typeface="Calibri" panose="020F0502020204030204" pitchFamily="34" charset="0"/>
              </a:rPr>
              <a:t>Organizer: Shri Pooran Panch Mahajan</a:t>
            </a:r>
            <a:endParaRPr lang="en-IN" sz="1400" b="1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8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1098</Words>
  <Application>Microsoft Office PowerPoint</Application>
  <PresentationFormat>Custom</PresentationFormat>
  <Paragraphs>156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Libre Baskerville</vt:lpstr>
      <vt:lpstr>Nirmala UI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mitul mehta</dc:creator>
  <cp:lastModifiedBy>mitul mehta</cp:lastModifiedBy>
  <cp:revision>1</cp:revision>
  <dcterms:created xsi:type="dcterms:W3CDTF">2026-02-22T16:19:22Z</dcterms:created>
  <dcterms:modified xsi:type="dcterms:W3CDTF">2026-02-22T16:19:22Z</dcterms:modified>
</cp:coreProperties>
</file>